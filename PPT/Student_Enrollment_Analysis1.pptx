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Values</c:v>
                </c:pt>
              </c:strCache>
            </c:strRef>
          </c:tx>
          <c:spPr>
            <a:solidFill>
              <a:srgbClr val="C144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Student_ID</c:v>
                  </c:pt>
                  <c:pt idx="1">
                    <c:v>Gender</c:v>
                  </c:pt>
                  <c:pt idx="2">
                    <c:v>Program</c:v>
                  </c:pt>
                  <c:pt idx="3">
                    <c:v>Enrollment_
Date</c:v>
                  </c:pt>
                  <c:pt idx="4">
                    <c:v>Study_Mode</c:v>
                  </c:pt>
                  <c:pt idx="5">
                    <c:v>Tuition_Fee</c:v>
                  </c:pt>
                  <c:pt idx="6">
                    <c:v>Enrollment_
Status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</c:v>
                </c:pt>
                <c:pt idx="1">
                  <c:v>15</c:v>
                </c:pt>
                <c:pt idx="2">
                  <c:v>15</c:v>
                </c:pt>
                <c:pt idx="3">
                  <c:v>16</c:v>
                </c:pt>
                <c:pt idx="4">
                  <c:v>15</c:v>
                </c:pt>
                <c:pt idx="5">
                  <c:v>15</c:v>
                </c:pt>
                <c:pt idx="6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bubble3D val="0"/>
            <c:spPr>
              <a:solidFill>
                <a:srgbClr val="B7C3E0"/>
              </a:solidFill>
              <a:effectLst/>
            </c:spPr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Unspecified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148</c:v>
                </c:pt>
                <c:pt idx="1">
                  <c:v>136</c:v>
                </c:pt>
                <c:pt idx="2">
                  <c:v>16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Tuition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Male</c:v>
                  </c:pt>
                  <c:pt idx="1">
                    <c:v>Female</c:v>
                  </c:pt>
                  <c:pt idx="2">
                    <c:v>Unspecified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127920.58</c:v>
                </c:pt>
                <c:pt idx="1">
                  <c:v>137600.67</c:v>
                </c:pt>
                <c:pt idx="2">
                  <c:v>15401.44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Computer
Science</c:v>
                  </c:pt>
                  <c:pt idx="1">
                    <c:v>Data
Science</c:v>
                  </c:pt>
                  <c:pt idx="2">
                    <c:v>Business
Admin.</c:v>
                  </c:pt>
                  <c:pt idx="3">
                    <c:v>Engineering</c:v>
                  </c:pt>
                  <c:pt idx="4">
                    <c:v>Public
Health</c:v>
                  </c:pt>
                  <c:pt idx="5">
                    <c:v>Economics</c:v>
                  </c:pt>
                  <c:pt idx="6">
                    <c:v>Unspecified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74</c:v>
                </c:pt>
                <c:pt idx="1">
                  <c:v>65</c:v>
                </c:pt>
                <c:pt idx="2">
                  <c:v>47</c:v>
                </c:pt>
                <c:pt idx="3">
                  <c:v>37</c:v>
                </c:pt>
                <c:pt idx="4">
                  <c:v>35</c:v>
                </c:pt>
                <c:pt idx="5">
                  <c:v>25</c:v>
                </c:pt>
                <c:pt idx="6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Study 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bubble3D val="0"/>
            <c:spPr>
              <a:solidFill>
                <a:srgbClr val="6E86C4"/>
              </a:solidFill>
              <a:effectLst/>
            </c:spPr>
          </c:dPt>
          <c:dPt>
            <c:idx val="3"/>
            <c:bubble3D val="0"/>
            <c:spPr>
              <a:solidFill>
                <a:srgbClr val="B7C3E0"/>
              </a:solidFill>
              <a:effectLst/>
            </c:spPr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Full-Time</c:v>
                </c:pt>
                <c:pt idx="1">
                  <c:v>Online</c:v>
                </c:pt>
                <c:pt idx="2">
                  <c:v>Part-Time</c:v>
                </c:pt>
                <c:pt idx="3">
                  <c:v>Unspecified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162</c:v>
                </c:pt>
                <c:pt idx="1">
                  <c:v>60</c:v>
                </c:pt>
                <c:pt idx="2">
                  <c:v>59</c:v>
                </c:pt>
                <c:pt idx="3">
                  <c:v>19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bubble3D val="0"/>
            <c:spPr>
              <a:solidFill>
                <a:srgbClr val="6E86C4"/>
              </a:solidFill>
              <a:effectLst/>
            </c:spPr>
          </c:dPt>
          <c:dPt>
            <c:idx val="3"/>
            <c:bubble3D val="0"/>
            <c:spPr>
              <a:solidFill>
                <a:srgbClr val="C1443C"/>
              </a:solidFill>
              <a:effectLst/>
            </c:spPr>
          </c:dPt>
          <c:dPt>
            <c:idx val="4"/>
            <c:bubble3D val="0"/>
            <c:spPr>
              <a:solidFill>
                <a:srgbClr val="B7C3E0"/>
              </a:solidFill>
              <a:effectLst/>
            </c:spPr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#,##0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#,##0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#,##0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Active</c:v>
                </c:pt>
                <c:pt idx="1">
                  <c:v>Graduated</c:v>
                </c:pt>
                <c:pt idx="2">
                  <c:v>Deferred</c:v>
                </c:pt>
                <c:pt idx="3">
                  <c:v>Withdrawn</c:v>
                </c:pt>
                <c:pt idx="4">
                  <c:v>Unspecified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175</c:v>
                </c:pt>
                <c:pt idx="1">
                  <c:v>64</c:v>
                </c:pt>
                <c:pt idx="2">
                  <c:v>27</c:v>
                </c:pt>
                <c:pt idx="3">
                  <c:v>16</c:v>
                </c:pt>
                <c:pt idx="4">
                  <c:v>18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754880" cy="4754880"/>
          </a:xfrm>
          <a:prstGeom prst="ellipse">
            <a:avLst/>
          </a:prstGeom>
          <a:solidFill>
            <a:srgbClr val="263874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6387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720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PROJECT  ·  DATA CLEANING &amp;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Enrollment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Cleaning &amp; Analysis Project  ·  300 Records  ·  7 Columns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128016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analyzed: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Enrollment_Row  &amp;  Analaysi_data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78240" y="6172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Muxudiin Ahmed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Enrollment_Row — 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Enrollment Data Analysis  ·  Excel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492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Enrollment_Row sheet holds enrollment data for 300 students, tracked across 7 columns. The dataset was cleaned and analyzed to produce reliable, accurate insights.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1518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Unique identifier for each student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9923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Student's gender (Male / Female)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1129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832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Academic program of study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9534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673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Enrollment_Date 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Date the student enrolled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79392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513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Study_Mode 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 of study (Full-Time / Part-Time / Online)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3542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Tuition_Fee 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Tuition fee amount paid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047488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91947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Enrollment_Status 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Current enrollment status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52360" y="141732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52360" y="1527048"/>
            <a:ext cx="4160520" cy="7589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543800" y="230428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Students (Total Records)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452360" y="297180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52360" y="3081528"/>
            <a:ext cx="4160520" cy="7589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43800" y="385876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452360" y="452628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52360" y="4636008"/>
            <a:ext cx="4160520" cy="7589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$280,922.69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543800" y="54132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Tuition Fees Collected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Enrollment Data Analysis  ·  Excel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27048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2585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Missing Values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035808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376732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Dataset Missing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544568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080" y="527608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Cells (300 × 7)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4612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per Column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200400" y="1783080"/>
          <a:ext cx="84124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Records &amp; Missing IDs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Enrollment Data Analysis  ·  Excel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Student_IDs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15087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0896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ENR0026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14600" y="3108960"/>
            <a:ext cx="15087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310896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ENR0052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06240" y="3108960"/>
            <a:ext cx="15087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310896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ENR0061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675888"/>
            <a:ext cx="15087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67588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ENR0071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14600" y="3675888"/>
            <a:ext cx="15087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367588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ENR0199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06240" y="3675888"/>
            <a:ext cx="15087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367588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ENR0256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4242816"/>
            <a:ext cx="15087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242816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ENR0279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55321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ID appears twice in the dataset — these rows need review, and the duplicate copy should be removed.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146304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6446520" y="233172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Absent Student_IDs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46520" y="3108960"/>
            <a:ext cx="117043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10896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ENR0006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44968" y="3108960"/>
            <a:ext cx="117043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44968" y="310896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ENR0013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043416" y="3108960"/>
            <a:ext cx="117043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43416" y="310896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ENR0055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341864" y="3108960"/>
            <a:ext cx="117043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41864" y="310896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ENR0064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46520" y="3675888"/>
            <a:ext cx="117043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675888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ENR0078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744968" y="3675888"/>
            <a:ext cx="117043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44968" y="3675888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ENR0146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43416" y="3675888"/>
            <a:ext cx="117043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43416" y="3675888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ENR0161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341864" y="3675888"/>
            <a:ext cx="117043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41864" y="3675888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ENR0168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46520" y="4242816"/>
            <a:ext cx="117043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424281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ENR0198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744968" y="4242816"/>
            <a:ext cx="117043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44968" y="424281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ENR0236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043416" y="4242816"/>
            <a:ext cx="117043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43416" y="424281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ENR0269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341864" y="4242816"/>
            <a:ext cx="117043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41864" y="424281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ENR0277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446520" y="4809744"/>
            <a:ext cx="117043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4809744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ENR0283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446520" y="5715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IDs are missing from the expected sequence, likely indicating rows that were removed entirely from the dataset.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Distribution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Enrollment Data Analysis  ·  Excel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03504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Fees by Gender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943600" y="1783080"/>
          <a:ext cx="56692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943600" y="44348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943600" y="4544568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 : 136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6035040" y="50932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vs Female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961120" y="44348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961120" y="4544568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$996.18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9052560" y="50932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Tuition Fee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PROGRAMS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Distribution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Enrollment Data Analysis  ·  Excel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417320"/>
          <a:ext cx="74980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22960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Fees by Program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1828800"/>
          <a:ext cx="3520440" cy="4297680"/>
        </p:xfrm>
        <a:graphic>
          <a:graphicData uri="http://schemas.openxmlformats.org/drawingml/2006/table">
            <a:tbl>
              <a:tblPr/>
              <a:tblGrid>
                <a:gridCol w="214884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Science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$68,526.92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$65,662.73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Administration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$36,617.50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$42,936.93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Health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$30,457.95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$19,402.25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Unspecified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$17,318.41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MODE &amp;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Mode &amp; Enrollment Status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Enrollment Data Analysis  ·  Excel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Mode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73736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30936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Status</a:t>
            </a:r>
            <a:endParaRPr lang="en-US" sz="13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17920" y="173736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Standardization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Enrollment Data Analysis  ·  Excel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 contained the same values written inconsistently as text (mixed case, abbreviations). The table below shows how each was cleaned and standardized: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6766560" cy="41148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  <a:gridCol w="2468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144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full-time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Study_Mode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144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FULL-TIME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Study_Mode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144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part-time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Study_Mode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144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PART-TIME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Study_Mode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144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Administration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144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Science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144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ACTIVE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Enrollment_Status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144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deferred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Enrollment_Status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144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graduated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Enrollment_Status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35240" y="2148840"/>
            <a:ext cx="3977640" cy="4114800"/>
          </a:xfrm>
          <a:prstGeom prst="roundRect">
            <a:avLst>
              <a:gd name="adj" fmla="val 1839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2377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Cleaning Matters: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63840" y="293522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8065008" y="280720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text ensures counts (COUNTIF/Pivot Tables) are accurate.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863840" y="384962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8065008" y="372160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Abbreviations like “BA” and “CS” need to map to their full names, or they get counted as separate programs.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7863840" y="476402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2"/>
          <p:cNvSpPr/>
          <p:nvPr/>
        </p:nvSpPr>
        <p:spPr>
          <a:xfrm>
            <a:off x="8065008" y="463600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Enrollment_Date contains 18 records with a #VALUE! error — dates that could not be recognized.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Enrollment Data Analysis  ·  Excel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727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0299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Program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has the highest enrollment (74 students), followed closely by Data Science (65).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34340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5727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26280" y="20299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Status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(175 students) are Active, while 21% (64) have Graduated.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5727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20299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Mode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21040" y="24231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is the dominant mode (162 students, 54%); Online and Part-Time are fairly close.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9044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" y="43616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" y="47548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values (5.1%) are missing, 7 Student_IDs are duplicated, and 13 IDs are missing from the sequence.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34340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39044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26280" y="43616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Fees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26280" y="47548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tuition collected is $280,922.69, averaging $996.18 per student.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813816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9044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321040" y="43616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Balance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321040" y="47548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148 vs Female 136 — a fairly even split, with 16 unspecified.</a:t>
            </a:r>
            <a:endParaRPr lang="en-US" sz="10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754880" cy="4754880"/>
          </a:xfrm>
          <a:prstGeom prst="ellipse">
            <a:avLst/>
          </a:prstGeom>
          <a:solidFill>
            <a:srgbClr val="263874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463040"/>
            <a:ext cx="4023360" cy="4023360"/>
          </a:xfrm>
          <a:prstGeom prst="ellipse">
            <a:avLst/>
          </a:prstGeom>
          <a:solidFill>
            <a:srgbClr val="26387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Enrollment Data Analysis  ·  Enrollment_Row &amp; Analaysi_data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128016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Muxudiin Ahmed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2026-08-25T09:17:08Z</dcterms:created>
  <dcterms:modified xsi:type="dcterms:W3CDTF">2026-08-25T09:17:08Z</dcterms:modified>
</cp:coreProperties>
</file>